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d772bfbda144b6" /><Relationship Type="http://schemas.openxmlformats.org/officeDocument/2006/relationships/extended-properties" Target="/docProps/app.xml" Id="R1b54d480f8754c2c" /><Relationship Type="http://schemas.openxmlformats.org/officeDocument/2006/relationships/officeDocument" Target="/ppt/presentation.xml" Id="R7ebe74fcef8b49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8d2bcd1ffc4ce0"/>
  </p:sldMasterIdLst>
  <p:notesMasterIdLst>
    <p:notesMasterId xmlns:r="http://schemas.openxmlformats.org/officeDocument/2006/relationships" r:id="R54173f41ccd6413f"/>
  </p:notesMasterIdLst>
  <p:sldIdLst>
    <p:sldId xmlns:r="http://schemas.openxmlformats.org/officeDocument/2006/relationships" id="256" r:id="Rb81cf31e0f944d29"/>
    <p:sldId xmlns:r="http://schemas.openxmlformats.org/officeDocument/2006/relationships" id="257" r:id="R3ead29866d564d49"/>
    <p:sldId xmlns:r="http://schemas.openxmlformats.org/officeDocument/2006/relationships" id="258" r:id="R248e0fdd0e784c3d"/>
    <p:sldId xmlns:r="http://schemas.openxmlformats.org/officeDocument/2006/relationships" id="259" r:id="R8ecfdf30acb74943"/>
    <p:sldId xmlns:r="http://schemas.openxmlformats.org/officeDocument/2006/relationships" id="260" r:id="R21b55c37a2534022"/>
    <p:sldId xmlns:r="http://schemas.openxmlformats.org/officeDocument/2006/relationships" id="261" r:id="R42811005c05b4e00"/>
    <p:sldId xmlns:r="http://schemas.openxmlformats.org/officeDocument/2006/relationships" id="262" r:id="R2585e33212834113"/>
    <p:sldId xmlns:r="http://schemas.openxmlformats.org/officeDocument/2006/relationships" id="263" r:id="Ra8b0305682014c1d"/>
    <p:sldId xmlns:r="http://schemas.openxmlformats.org/officeDocument/2006/relationships" id="264" r:id="Rd3ced6fadbab4da2"/>
    <p:sldId xmlns:r="http://schemas.openxmlformats.org/officeDocument/2006/relationships" id="265" r:id="R5dd183e64d474929"/>
    <p:sldId xmlns:r="http://schemas.openxmlformats.org/officeDocument/2006/relationships" id="266" r:id="Rbef471ab043e47d8"/>
    <p:sldId xmlns:r="http://schemas.openxmlformats.org/officeDocument/2006/relationships" id="267" r:id="R77ecb77ef5f340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6bdbe262dc4ddd" /><Relationship Type="http://schemas.openxmlformats.org/officeDocument/2006/relationships/slideMaster" Target="/ppt/slideMasters/slideMaster1.xml" Id="R378d2bcd1ffc4ce0" /><Relationship Type="http://schemas.openxmlformats.org/officeDocument/2006/relationships/notesMaster" Target="/ppt/notesMasters/notesMaster1.xml" Id="R54173f41ccd6413f" /><Relationship Type="http://schemas.openxmlformats.org/officeDocument/2006/relationships/presProps" Target="/ppt/presProps.xml" Id="R99ebb1e122f44e8b" /><Relationship Type="http://schemas.openxmlformats.org/officeDocument/2006/relationships/tableStyles" Target="/ppt/tableStyles.xml" Id="R1fdc522df5624488" /><Relationship Type="http://schemas.openxmlformats.org/officeDocument/2006/relationships/slide" Target="/ppt/slides/slide1.xml" Id="Rb81cf31e0f944d29" /><Relationship Type="http://schemas.openxmlformats.org/officeDocument/2006/relationships/slide" Target="/ppt/slides/slide2.xml" Id="R3ead29866d564d49" /><Relationship Type="http://schemas.openxmlformats.org/officeDocument/2006/relationships/slide" Target="/ppt/slides/slide3.xml" Id="R248e0fdd0e784c3d" /><Relationship Type="http://schemas.openxmlformats.org/officeDocument/2006/relationships/slide" Target="/ppt/slides/slide4.xml" Id="R8ecfdf30acb74943" /><Relationship Type="http://schemas.openxmlformats.org/officeDocument/2006/relationships/slide" Target="/ppt/slides/slide5.xml" Id="R21b55c37a2534022" /><Relationship Type="http://schemas.openxmlformats.org/officeDocument/2006/relationships/slide" Target="/ppt/slides/slide6.xml" Id="R42811005c05b4e00" /><Relationship Type="http://schemas.openxmlformats.org/officeDocument/2006/relationships/slide" Target="/ppt/slides/slide7.xml" Id="R2585e33212834113" /><Relationship Type="http://schemas.openxmlformats.org/officeDocument/2006/relationships/slide" Target="/ppt/slides/slide8.xml" Id="Ra8b0305682014c1d" /><Relationship Type="http://schemas.openxmlformats.org/officeDocument/2006/relationships/slide" Target="/ppt/slides/slide9.xml" Id="Rd3ced6fadbab4da2" /><Relationship Type="http://schemas.openxmlformats.org/officeDocument/2006/relationships/slide" Target="/ppt/slides/slide10.xml" Id="R5dd183e64d474929" /><Relationship Type="http://schemas.openxmlformats.org/officeDocument/2006/relationships/slide" Target="/ppt/slides/slide11.xml" Id="Rbef471ab043e47d8" /><Relationship Type="http://schemas.openxmlformats.org/officeDocument/2006/relationships/slide" Target="/ppt/slides/slide12.xml" Id="R77ecb77ef5f340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e0e259625149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55e4dd392d4d2e" /><Relationship Type="http://schemas.openxmlformats.org/officeDocument/2006/relationships/notesMaster" Target="/ppt/notesMasters/notesMaster1.xml" Id="Rd6916a9bd85f40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0382a601a8497c" /><Relationship Type="http://schemas.openxmlformats.org/officeDocument/2006/relationships/notesMaster" Target="/ppt/notesMasters/notesMaster1.xml" Id="R555feb01fbca4e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8c661224e641a5" /><Relationship Type="http://schemas.openxmlformats.org/officeDocument/2006/relationships/notesMaster" Target="/ppt/notesMasters/notesMaster1.xml" Id="R44e5e66120024a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99cd4a975254f83" /><Relationship Type="http://schemas.openxmlformats.org/officeDocument/2006/relationships/notesMaster" Target="/ppt/notesMasters/notesMaster1.xml" Id="R690b06f9aa0942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5f781e29fbb4038" /><Relationship Type="http://schemas.openxmlformats.org/officeDocument/2006/relationships/notesMaster" Target="/ppt/notesMasters/notesMaster1.xml" Id="R7648b7e4e54f47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78a038f021545c0" /><Relationship Type="http://schemas.openxmlformats.org/officeDocument/2006/relationships/notesMaster" Target="/ppt/notesMasters/notesMaster1.xml" Id="R56d05407abbd4b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b24d943b87f4054" /><Relationship Type="http://schemas.openxmlformats.org/officeDocument/2006/relationships/notesMaster" Target="/ppt/notesMasters/notesMaster1.xml" Id="R0af3cd234e8c48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897dfb277e64723" /><Relationship Type="http://schemas.openxmlformats.org/officeDocument/2006/relationships/notesMaster" Target="/ppt/notesMasters/notesMaster1.xml" Id="Re112a67bc24047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a844a278374c78" /><Relationship Type="http://schemas.openxmlformats.org/officeDocument/2006/relationships/notesMaster" Target="/ppt/notesMasters/notesMaster1.xml" Id="R790ff89c18064f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4ef918393c4542" /><Relationship Type="http://schemas.openxmlformats.org/officeDocument/2006/relationships/notesMaster" Target="/ppt/notesMasters/notesMaster1.xml" Id="R92d44e1ad5fd4e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00f50d4b9bf4bc6" /><Relationship Type="http://schemas.openxmlformats.org/officeDocument/2006/relationships/notesMaster" Target="/ppt/notesMasters/notesMaster1.xml" Id="Rf7a53f35944d414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28d1afe9011494b" /><Relationship Type="http://schemas.openxmlformats.org/officeDocument/2006/relationships/notesMaster" Target="/ppt/notesMasters/notesMaster1.xml" Id="Rbdd21feb7e574c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발표의 질문은 기술이 아니라 고객의 마지막 의사결정이다.</a:t>
            </a:r>
          </a:p>
          <a:p xmlns:a="http://schemas.openxmlformats.org/drawingml/2006/main">
            <a:r>
              <a:t>이 자료는 문제정의와 시스템설계만 다룬다.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https://daker.ai/public/hackathons/2026-finance-ai-challenge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통계는 서비스 성과가 아니라 문제의 규모를 보여주는 근거다.</a:t>
            </a:r>
          </a:p>
          <a:p xmlns:a="http://schemas.openxmlformats.org/drawingml/2006/main">
            <a:r>
              <a:t>2026 수치는 1~4월이므로 상반기 수치와 직접 비교하지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https://www.police.go.kr/user/bbs/BD_selectBbs.do?q_bbsCode=1007&amp;q_bbscttSn=20260526143737248&amp;q_currPage=1&amp;q_rowPerPage=12&amp;q_sortName=&amp;q_sortOrder=&amp;q_tab=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핵심은 새로운 탐지기를 하나 더 만드는 것이 아니다.</a:t>
            </a:r>
          </a:p>
          <a:p xmlns:a="http://schemas.openxmlformats.org/drawingml/2006/main">
            <a:r>
              <a:t>탐지 신호를 고객의 즉시 행동으로 바꾸는 접점이 서비스의 포지션이다.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https://daker.ai/public/hackathons/2026-finance-ai-challenge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FDS나 통신 탐지의 기능 부족을 주장하지 않는다.</a:t>
            </a:r>
          </a:p>
          <a:p xmlns:a="http://schemas.openxmlformats.org/drawingml/2006/main">
            <a:r>
              <a:t>여러 시스템의 신호가 고객의 행동으로 번역되는 접점 공백을 문제로 정의한다.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효과를 이미 달성했다고 주장하지 않는다.</a:t>
            </a:r>
          </a:p>
          <a:p xmlns:a="http://schemas.openxmlformats.org/drawingml/2006/main">
            <a:r>
              <a:t>현재 합성 MVP와 향후 POC에서 이 행동 가설을 검증한다.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현재와 미래 구조를 한 그림에서 혼합하지 않는다.</a:t>
            </a:r>
          </a:p>
          <a:p xmlns:a="http://schemas.openxmlformats.org/drawingml/2006/main">
            <a:r>
              <a:t>현재 MVP에는 실제 개인정보·실시간 거래 스트림이 없다.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Cloud BYOK는 FastAPI/LangGraph와 다른 경로다.</a:t>
            </a:r>
          </a:p>
          <a:p xmlns:a="http://schemas.openxmlformats.org/drawingml/2006/main">
            <a:r>
              <a:t>공개 배포 URL에서 사용자의 localhost Ollama에는 접근할 수 없어 Mock fallback이 발생한다.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/Users/dongyoungko/Documents/AI_Hacker/AI_Finance_Sec/app/api/chat/route.ts</a:t>
            </a:r>
          </a:p>
          <a:p xmlns:a="http://schemas.openxmlformats.org/drawingml/2006/main">
            <a:r>
              <a:t>- /Users/dongyoungko/Documents/AI_Hacker/AI_Finance_Sec/backend/main.py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실제 Edge: START→prepare_input→structured_risk_agent→(knowledge_agent ∥ policy_agent)→ollama_generate→safety_verifier→finalize→END.</a:t>
            </a:r>
          </a:p>
          <a:p xmlns:a="http://schemas.openxmlformats.org/drawingml/2006/main">
            <a:r>
              <a:t>Qwen 자유문은 초기 안전성 측정에만 쓰고 최종 노출 문구에는 사용하지 않는다.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/Users/dongyoungko/Documents/AI_Hacker/AI_Finance_Sec/backend/app/graph.py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조건부 Edge나 ToolNode는 없다.</a:t>
            </a:r>
          </a:p>
          <a:p xmlns:a="http://schemas.openxmlformats.org/drawingml/2006/main">
            <a:r>
              <a:t>멀티턴은 session_id 기반 프로세스 내 체크포인트이며 영구 메모리가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/Users/dongyoungko/Documents/AI_Hacker/AI_Finance_Sec/backend/app/graph.py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Qwen은 자유문이 아니라 엄격한 JSON 스키마로 위험판정에 기여한다.</a:t>
            </a:r>
          </a:p>
          <a:p xmlns:a="http://schemas.openxmlformats.org/drawingml/2006/main">
            <a:r>
              <a:t>이 구조는 오분류를 제거하지 않는다. 불확실성을 안전 판정으로 내리는 위험을 줄이는 설계다.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/Users/dongyoungko/Documents/AI_Hacker/AI_Finance_Sec/backend/app/graph.py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검색은 벡터 임베딩이나 cross-encoder가 아니다.</a:t>
            </a:r>
          </a:p>
          <a:p xmlns:a="http://schemas.openxmlformats.org/drawingml/2006/main">
            <a:r>
              <a:t>KB는 공식기관 안내를 요약한 데모 지식이며 기관 승인 지식저장소가 아니다.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/Users/dongyoungko/Documents/AI_Hacker/AI_Finance_Sec/backend/app/graph.py</a:t>
            </a:r>
          </a:p>
          <a:p xmlns:a="http://schemas.openxmlformats.org/drawingml/2006/main">
            <a:r>
              <a:t>- https://www.police.go.kr/user/bbs/BD_selectBbs.do?q_bbsCode=1007&amp;q_bbscttSn=20260209152732394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합성 회귀셋 통과는 구현 안정성 증거일 뿐 실사용 일반화 성능이 아니다.</a:t>
            </a:r>
          </a:p>
          <a:p xmlns:a="http://schemas.openxmlformats.org/drawingml/2006/main">
            <a:r>
              <a:t>다음 단계는 실제 통화 원문 수집보다 최소 위험 특징값 기반 POC 입력 경로를 우선 검토한다.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/Users/dongyoungko/Documents/AI_Hacker/AI_Finance_Sec/backend/app/graph.py</a:t>
            </a:r>
          </a:p>
          <a:p xmlns:a="http://schemas.openxmlformats.org/drawingml/2006/main">
            <a:r>
              <a:t>- /Users/dongyoungko/Documents/AI_Hacker/AI_Finance_Sec/app/lib/engine.ts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6e8b3f459745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3d679adc9b42eb" /><Relationship Type="http://schemas.openxmlformats.org/officeDocument/2006/relationships/slideLayout" Target="/ppt/slideLayouts/slideLayout1.xml" Id="R58a6ac458c3643b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a6ac458c3643b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fdfa7b7c7347e5" /><Relationship Type="http://schemas.openxmlformats.org/officeDocument/2006/relationships/notesSlide" Target="/ppt/notesSlides/notesSlide1.xml" Id="R169e6a449e9b4e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f9b7e6cbe41f3" /><Relationship Type="http://schemas.openxmlformats.org/officeDocument/2006/relationships/notesSlide" Target="/ppt/notesSlides/notesSlide2.xml" Id="R3ba8e7003cd04a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ae1752b8d74169" /><Relationship Type="http://schemas.openxmlformats.org/officeDocument/2006/relationships/notesSlide" Target="/ppt/notesSlides/notesSlide3.xml" Id="Rbdf6c9c4bbdd47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f1f7ee87b84caa" /><Relationship Type="http://schemas.openxmlformats.org/officeDocument/2006/relationships/notesSlide" Target="/ppt/notesSlides/notesSlide4.xml" Id="Rf349c217e7f145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7ebbef5d84954" /><Relationship Type="http://schemas.openxmlformats.org/officeDocument/2006/relationships/notesSlide" Target="/ppt/notesSlides/notesSlide5.xml" Id="R76bfd4e6ebfc4b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5d3a21fd7f43f3" /><Relationship Type="http://schemas.openxmlformats.org/officeDocument/2006/relationships/notesSlide" Target="/ppt/notesSlides/notesSlide6.xml" Id="R1841b444780043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0761993534e20" /><Relationship Type="http://schemas.openxmlformats.org/officeDocument/2006/relationships/notesSlide" Target="/ppt/notesSlides/notesSlide7.xml" Id="R6d38894e7b7545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25d702e270400a" /><Relationship Type="http://schemas.openxmlformats.org/officeDocument/2006/relationships/notesSlide" Target="/ppt/notesSlides/notesSlide8.xml" Id="Ra7603928f7fe4d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5fb10df7341ac" /><Relationship Type="http://schemas.openxmlformats.org/officeDocument/2006/relationships/notesSlide" Target="/ppt/notesSlides/notesSlide9.xml" Id="R3eeeda3ee0264a5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cfa26acfe4e57" /><Relationship Type="http://schemas.openxmlformats.org/officeDocument/2006/relationships/notesSlide" Target="/ppt/notesSlides/notesSlide10.xml" Id="Rc130ef5030c148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8a72a67d10406c" /><Relationship Type="http://schemas.openxmlformats.org/officeDocument/2006/relationships/notesSlide" Target="/ppt/notesSlides/notesSlide11.xml" Id="Rc1edf466e7c941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431eb221364aa6" /><Relationship Type="http://schemas.openxmlformats.org/officeDocument/2006/relationships/notesSlide" Target="/ppt/notesSlides/notesSlide12.xml" Id="R5f95a95474be48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A1CE2-B16D-42A1-A16B-998E289A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C73"/>
          </a:solidFill>
          <a:ln xmlns:a="http://schemas.openxmlformats.org/drawingml/2006/main" w="9525">
            <a:solidFill>
              <a:srgbClr val="008C7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1FF3E-4889-4725-A4A6-7079AFBD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3095625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45F"/>
          </a:solidFill>
          <a:ln xmlns:a="http://schemas.openxmlformats.org/drawingml/2006/main" w="9525">
            <a:solidFill>
              <a:srgbClr val="24445F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3103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DEFE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CDEFE7"/>
                </a:solidFill>
                <a:latin typeface="Noto Sans KR"/>
                <a:ea typeface="Noto Sans KR"/>
                <a:cs typeface="Noto Sans KR"/>
              </a:rPr>
              <a:t>2026 금융 AI Challenge · CONSULTING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5C104-EB9B-45CA-B9E1-F511A4112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685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송금 직전,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고객은 왜 멈추지 못하는가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6A548-24C6-4B84-8608-145E4874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CDEFE7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CDEFE7"/>
                </a:solidFill>
                <a:latin typeface="Noto Sans KR"/>
                <a:ea typeface="Noto Sans KR"/>
                <a:cs typeface="Noto Sans KR"/>
              </a:rPr>
              <a:t>AI_Finance_Sec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C78E0-1D00-43F7-BE9C-266882BD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0DDE7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D0DDE7"/>
                </a:solidFill>
                <a:latin typeface="Noto Sans KR"/>
                <a:ea typeface="Noto Sans KR"/>
                <a:cs typeface="Noto Sans KR"/>
              </a:rPr>
              <a:t>문제 정의와 시스템 설계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1EDD4-DD6E-4D95-9151-190EF337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3B4B"/>
          </a:solidFill>
          <a:ln xmlns:a="http://schemas.openxmlformats.org/drawingml/2006/main" w="9525">
            <a:solidFill>
              <a:srgbClr val="008C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위험 신호를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‘멈춤·확인·신고’ 행동으로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C474B-DFDC-4896-BF1C-DC528EF3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8D4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B9C8D4"/>
                </a:solidFill>
                <a:latin typeface="Noto Sans KR"/>
                <a:ea typeface="Noto Sans KR"/>
                <a:cs typeface="Noto Sans KR"/>
              </a:rPr>
              <a:t>현재 합성 MVP와 목표 POC 구조를 구분해 설명합니다.</a:t>
            </a:r>
          </a:p>
        </p:txBody>
      </p:sp>
    </p:spTree>
    <p:extLst>
      <p:ext uri="{BB962C8B-B14F-4D97-AF65-F5344CB8AC3E}">
        <p14:creationId xmlns:p14="http://schemas.microsoft.com/office/powerpoint/2010/main" val="45363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97590-4384-4092-B2DB-BAC0AE70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11A58-B68E-4936-8B67-FE7788DD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01 · PROBLEM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EDB09-A093-4ACA-8210-88E17D2DA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피해액은 줄었지만, 고객의 ‘마지막 판단’ 문제는 남아 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B2C18-60B8-434A-8C74-E9F1CD63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D9EDE0-6E85-4E9F-B910-47C7825C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보이스피싱 피해액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129A4-E049-47C8-A909-4A139DDB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2217"/>
            <a:ext cx="2238375" cy="1235583"/>
          </a:xfrm>
          <a:prstGeom xmlns:a="http://schemas.openxmlformats.org/drawingml/2006/main" prst="roundRect">
            <a:avLst>
              <a:gd name="adj" fmla="val 6167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EAF1F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B9769-5CBD-4543-80EB-72A9B8C3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3117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3,243억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6A7952-101E-4184-A595-AED5BAB1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911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2024 상반기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6A8DEA-37B7-4980-91CC-3AAB8B1B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1399"/>
            <a:ext cx="2238375" cy="2446401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D64545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F8132C-7620-4275-ACF7-83418699F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92299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6454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D64545"/>
                </a:solidFill>
                <a:latin typeface="Noto Sans KR"/>
                <a:ea typeface="Noto Sans KR"/>
                <a:cs typeface="Noto Sans KR"/>
              </a:rPr>
              <a:t>6,421억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86AD1-1716-4A1E-BAF1-BA593FCB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3911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2025 상반기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28691-78C0-42F2-ACCA-4A00C081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10075"/>
            <a:ext cx="2238375" cy="847725"/>
          </a:xfrm>
          <a:prstGeom xmlns:a="http://schemas.openxmlformats.org/drawingml/2006/main" prst="roundRect">
            <a:avLst>
              <a:gd name="adj" fmla="val 8989"/>
            </a:avLst>
          </a:prstGeom>
          <a:solidFill xmlns:a="http://schemas.openxmlformats.org/drawingml/2006/main">
            <a:srgbClr val="008C73"/>
          </a:solidFill>
          <a:ln xmlns:a="http://schemas.openxmlformats.org/drawingml/2006/main" w="9525">
            <a:solidFill>
              <a:srgbClr val="008C7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F2DFA-8683-4F43-8EE4-E21B56AE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90975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8765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2,225억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217FA-3012-48EB-AF12-2A03D431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9115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2026년 1~4월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11312F-A6C1-4FC4-A237-E427B4B5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81200"/>
            <a:ext cx="128587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7134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6454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64545"/>
                </a:solidFill>
                <a:latin typeface="Noto Sans KR"/>
                <a:ea typeface="Noto Sans KR"/>
                <a:cs typeface="Noto Sans KR"/>
              </a:rPr>
              <a:t>+98.1%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46994F-9C3F-43DC-9508-C6EBCFA2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2381250" cy="37147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209550" tIns="209550" rIns="209550" bIns="1714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핵심 해석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범정부 대응으로 2026년 1~4월 피해액은 전년 동기 대비 48% 감소했습니다.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그러나 공격자는 통화·문자·앱·거래를 조합하며, 고객은 압박 속에서 ‘지금 무엇을 해야 하는가’를 판단해야 합니다.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49A43-4ED5-449A-B5C5-AAE7E42C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AI_Finance_Sec · 2026.08.16 · 문제정의/시스템설계</a:t>
            </a:r>
          </a:p>
        </p:txBody>
      </p:sp>
    </p:spTree>
    <p:extLst>
      <p:ext uri="{BB962C8B-B14F-4D97-AF65-F5344CB8AC3E}">
        <p14:creationId xmlns:p14="http://schemas.microsoft.com/office/powerpoint/2010/main" val="3266031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E808B8-CA64-496C-9D35-F6656745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6049AD-4457-4041-88BC-FD50557C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01 · USER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E7F4C-4723-41A9-B0FE-631D5BCF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피해는 ‘행동 전환 실패’에서 완성된다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FCF92-94DC-4C82-B907-28B06046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F6149-34DF-4349-BDA2-6FD14A7B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1809750" cy="2190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3977D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01</a:t>
            </a:r>
          </a:p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신뢰 획득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기관·가족·금융사</a:t>
            </a:r>
          </a:p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정교한 사칭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518C9-72E9-47B3-8590-B4D2AC8C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95500"/>
            <a:ext cx="1809750" cy="2190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9A670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02</a:t>
            </a:r>
          </a:p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심리적 고립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비밀·긴급성·처벌</a:t>
            </a:r>
          </a:p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통화 유지 압박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6DB1C-8C83-45D4-978D-6549C5C3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95500"/>
            <a:ext cx="1809750" cy="2190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03</a:t>
            </a:r>
          </a:p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행동 요구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송금·앱 설치·</a:t>
            </a:r>
          </a:p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인증정보 전달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46BB3-D75C-49CE-A0AA-F635DDA4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095500"/>
            <a:ext cx="1809750" cy="2190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CEAFE"/>
          </a:solidFill>
          <a:ln xmlns:a="http://schemas.openxmlformats.org/drawingml/2006/main" w="9525">
            <a:solidFill>
              <a:srgbClr val="5B4BB7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04</a:t>
            </a:r>
          </a:p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판단 공백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경고 이유와</a:t>
            </a:r>
          </a:p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확인 절차 부재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4E5A8-2427-4140-A4AE-EA2C3B4E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95500"/>
            <a:ext cx="1809750" cy="2190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CDEFE7"/>
          </a:solidFill>
          <a:ln xmlns:a="http://schemas.openxmlformats.org/drawingml/2006/main" w="9525">
            <a:solidFill>
              <a:srgbClr val="008C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05</a:t>
            </a:r>
          </a:p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피해 인지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이체 후 뒤늦게</a:t>
            </a:r>
          </a:p>
          <a:p xmlns:a="http://schemas.openxmlformats.org/drawingml/2006/main">
            <a:pPr algn="ctr">
              <a:def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상담·지급정지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400300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686300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972300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9258300" y="31908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16D9FF-CB87-4E8F-BA4E-55653C48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85925"/>
            <a:ext cx="1428750" cy="323850"/>
          </a:xfrm>
          <a:prstGeom xmlns:a="http://schemas.openxmlformats.org/drawingml/2006/main" prst="roundRect">
            <a:avLst>
              <a:gd name="adj" fmla="val 35294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65301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개입 지점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E979DF-ED75-4DF3-8992-F6B744CF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AI_Finance_Sec는 ④에서 위험 이유를 설명하고, ⑤ 이전에 공식 재확인 행동을 제안한다.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3C40D9-4FA1-4931-AF7E-76D3B6A9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AI_Finance_Sec · 2026.08.16 · 문제정의/시스템설계</a:t>
            </a:r>
          </a:p>
        </p:txBody>
      </p:sp>
    </p:spTree>
    <p:extLst>
      <p:ext uri="{BB962C8B-B14F-4D97-AF65-F5344CB8AC3E}">
        <p14:creationId xmlns:p14="http://schemas.microsoft.com/office/powerpoint/2010/main" val="14799584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5D320-2372-4989-85D3-65B48B46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1E8175-DAB2-4F1B-AE8B-2483A367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01 · ROOT CAUSE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92079-7186-42E1-A8DD-F2EDA8FB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현재 대응은 강하지만, 고객 접점에서는 서로 분리되어 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D6BE0F-DD9B-458F-BAB1-915EF9F4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C2FF4-53DF-4540-97F8-14EEA868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2095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통신·단말 탐지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21DF7D-EBA1-496F-831A-A5C5590E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8859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통화·문자·앱의 이상 징후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15C25-1506-49CD-B6E6-6AAB3631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86050"/>
            <a:ext cx="2095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금융회사 FDS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DE597-4338-4833-95DC-F0FA21FB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003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거래·계좌·단말의 이상 징후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2C74F7-F24D-46F5-9F4F-5C6604F2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2095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예방 교육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34F5AA-2842-4ED0-BFC1-6D646E5C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147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사전에 학습하는 일반 행동수칙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F4A8BB-5949-4554-A640-C3DBDF2A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14850"/>
            <a:ext cx="2095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기관 신고·조치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7091F6-8F05-496F-9FCC-EF5431C2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629150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피해 인지 후 상담·지급정지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FDED1E-EF05-4063-B230-A60300C4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714750" cy="3333750"/>
          </a:xfrm>
          <a:prstGeom xmlns:a="http://schemas.openxmlformats.org/drawingml/2006/main" prst="roundRect">
            <a:avLst>
              <a:gd name="adj" fmla="val 342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결정의 공백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왜 위험한가?</a:t>
            </a:r>
          </a:p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지금 무엇을 멈출까?</a:t>
            </a:r>
          </a:p>
          <a:p xmlns:a="http://schemas.openxmlformats.org/drawingml/2006/main">
            <a:pPr algn="ctr">
              <a:defRPr sz="18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어디서 다시 확인할까?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EDB02C-24E8-49A2-9B6B-47FB4FA4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90850"/>
            <a:ext cx="1000125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분리된 신호</a:t>
            </a:r>
          </a:p>
        </p:txBody>
      </p:sp>
      <p:cxnSp>
        <p:nvCxnSpPr>
          <p:cNvPr id="33" name=""/>
          <p:cNvCxnSpPr>
            <a:stCxn xmlns:a="http://schemas.openxmlformats.org/drawingml/2006/main" id="14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000875" y="3362325"/>
            <a:ext cx="238125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4545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5D91FB-7EF4-47CC-BC0C-1337826C9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81625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rPr>
              <a:t>AI_Finance_Sec의 역할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A876C-30D6-4AF9-ADA6-7D116277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6769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297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기존 탐지·조치를 대체하지 않고, 설명과 재확인을 잇는 고객 행동 계층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50828B-A2B6-4A77-B113-F051E9E5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AI_Finance_Sec · 2026.08.16 · 문제정의/시스템설계</a:t>
            </a:r>
          </a:p>
        </p:txBody>
      </p:sp>
    </p:spTree>
    <p:extLst>
      <p:ext uri="{BB962C8B-B14F-4D97-AF65-F5344CB8AC3E}">
        <p14:creationId xmlns:p14="http://schemas.microsoft.com/office/powerpoint/2010/main" val="3802078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E4FBD-B5AB-4DC4-995E-452DA935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C22064-25FF-46CD-B143-9AE28B8E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02 · SERVICE 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976AD-AD97-469B-B928-5DD5C194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해결 가설: ‘통합 판단 → 짧은 설명 → 승인된 행동’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B9DC21-8476-431C-B6EC-13C22AE2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6F989-34F1-48AD-8A53-0D62E53B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95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3977D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SIGNAL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통화·거래 정황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1B4191-9C70-4836-9AAB-F3E40B4DE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190750"/>
            <a:ext cx="2095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4B74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DECISION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보수적 위험판정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9F92C-74B0-4752-8EEB-99327534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90750"/>
            <a:ext cx="2095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CDEFE7"/>
          </a:solidFill>
          <a:ln xmlns:a="http://schemas.openxmlformats.org/drawingml/2006/main" w="9525">
            <a:solidFill>
              <a:srgbClr val="008C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EXPLANATION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이유·근거 표시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251883-FD0B-4F26-9689-B5957FBE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2095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중단·확인·신고 안내</a:t>
            </a:r>
          </a:p>
        </p:txBody>
      </p:sp>
      <p:cxnSp>
        <p:nvCxnSpPr>
          <p:cNvPr id="23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762250" y="3095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24D"/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5619750" y="3095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24D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477250" y="30956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24D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4F558-DA5A-44C8-A020-3233849F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08C73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8C73"/>
                </a:solidFill>
                <a:latin typeface="Noto Sans KR"/>
                <a:ea typeface="Noto Sans KR"/>
                <a:cs typeface="Noto Sans KR"/>
              </a:rPr>
              <a:t>검증할 사업 가설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179C7-3DDB-430A-8644-2EF74EDB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57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93909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단순 경고보다 ‘왜 위험한지 + 무엇을 할지’를 함께 제시하면 모의 송금 중단과 공식 재확인 행동이 개선된다.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BF409D-23D6-49B8-A242-BC040EE5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AI_Finance_Sec · 2026.08.16 · 문제정의/시스템설계</a:t>
            </a:r>
          </a:p>
        </p:txBody>
      </p:sp>
    </p:spTree>
    <p:extLst>
      <p:ext uri="{BB962C8B-B14F-4D97-AF65-F5344CB8AC3E}">
        <p14:creationId xmlns:p14="http://schemas.microsoft.com/office/powerpoint/2010/main" val="6776462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9E067-85E5-4895-8D1B-0E6180AB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6B7B5-34F9-4418-82B7-CCC41E22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02 · DESIGN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93998-03F1-454B-B9CA-09C9BF7E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설계의 출발점은 ‘정확도’만이 아니라 안전 경계다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F6F28-8A1B-4B68-8BBE-8F8B6EF0B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C2BC90-3D31-47B4-BFF5-0874610C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552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3103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2CC37-D95F-4786-BC03-F648E91C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C73"/>
            </a:solidFill>
            <a:prstDash val="solid"/>
          </a:ln>
        </p:spPr>
        <p:txBody>
          <a:bodyPr xmlns:a="http://schemas.openxmlformats.org/drawingml/2006/main" wrap="square" lIns="171450" tIns="190500" rIns="1714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보수적 판정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규칙·모델 불일치나 저신뢰는 ‘안전’이 아니라 최소 ‘주의’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6F1AB-59E0-49B9-8875-505AEB18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552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3103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7DD58E-2BFE-46E7-A8FD-96D31CCC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20980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71450" tIns="190500" rIns="1714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역할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위험판정·근거선택·행동정책·안전검증을 별도 Node로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291851-9B04-403C-BFB9-64D6958C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552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3103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D1F60-A0D0-44AA-81F4-9AFD998B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0980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71450" tIns="190500" rIns="1714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허용 문구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최종 답변은 서버 행동 allowlist로 제한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02476-A352-4510-8092-8993453E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809750"/>
            <a:ext cx="5524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3103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C290D-BF59-4235-8889-C368EDD69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09800"/>
            <a:ext cx="24765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71450" tIns="190500" rIns="17145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외부조치 경계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신고·지급정지는 안내만 하며 자동 실행하지 않음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5F6222-6AEC-4628-B9D4-652B970F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20955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08C73"/>
          </a:solidFill>
          <a:ln xmlns:a="http://schemas.openxmlformats.org/drawingml/2006/main" w="9525">
            <a:solidFill>
              <a:srgbClr val="008C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현재 MVP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DB256B-468D-4B06-8ACD-D7EAA1BC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5780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합성 입력 · 로컬 Qwen · 정적 KB · 프로세스 메모리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775A33-0147-4B9F-805F-08C792A4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72150"/>
            <a:ext cx="20955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POC / P2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CFC432-C557-439F-BC37-841D6D5B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10250"/>
            <a:ext cx="800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475467"/>
                </a:solidFill>
                <a:latin typeface="Noto Sans KR"/>
                <a:ea typeface="Noto Sans KR"/>
                <a:cs typeface="Noto Sans KR"/>
              </a:rPr>
              <a:t>동의 기반 실제 신호 · 금융회사 연계 · 승인 지식 · 영속/감사 체계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1AF357-C3C2-4E81-9A5C-EFE906C4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AI_Finance_Sec · 2026.08.16 · 문제정의/시스템설계</a:t>
            </a:r>
          </a:p>
        </p:txBody>
      </p:sp>
    </p:spTree>
    <p:extLst>
      <p:ext uri="{BB962C8B-B14F-4D97-AF65-F5344CB8AC3E}">
        <p14:creationId xmlns:p14="http://schemas.microsoft.com/office/powerpoint/2010/main" val="8189483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B0F4F-AA2A-410A-9CDC-E93E9F96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DF2A3-A15D-4AF8-B2E4-892473FC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03 · SYSTEM CONTEXT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7C2BE-F88C-4395-A66D-DE267DD6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현재 MVP는 세 가지 실행 경로를 명확히 분리한다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093F9F-87F0-4C64-8411-56D79297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DB6380-3207-4BD0-B76E-8112AF451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브라우저 UI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Next.js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F47A46-605D-4B33-B541-5F1AB9EB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71625"/>
            <a:ext cx="2333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3977D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Mock 경로</a:t>
            </a:r>
          </a:p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TS 규칙·정적 RAG</a:t>
            </a:r>
          </a:p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네트워크 없음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665E80-011D-484B-AE88-B3DAD9BD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2333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CDEFE7"/>
          </a:solidFill>
          <a:ln xmlns:a="http://schemas.openxmlformats.org/drawingml/2006/main" w="9525">
            <a:solidFill>
              <a:srgbClr val="008C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Local Ollama 경로</a:t>
            </a:r>
          </a:p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Next API → FastAPI</a:t>
            </a:r>
          </a:p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Compiled LangGraph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29B2F-32B0-487B-9EBF-50DCA2FE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05375"/>
            <a:ext cx="2333625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4B74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Cloud BYOK 경로</a:t>
            </a:r>
          </a:p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Provider API 직접 프록시</a:t>
            </a:r>
          </a:p>
          <a:p xmlns:a="http://schemas.openxmlformats.org/drawingml/2006/main">
            <a:pPr algn="ctr">
              <a:def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LangGraph 미사용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7042EA-7F92-46F0-AFF8-6B11FD0F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67050"/>
            <a:ext cx="247650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C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FastAPI :8000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LangGraph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Qwen2.5:7b × 최대 2회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D7C66-DE1A-442F-8B40-3CA740EA7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29000"/>
            <a:ext cx="1381125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Ollama :11434</a:t>
            </a:r>
          </a:p>
        </p:txBody>
      </p:sp>
      <p:cxnSp>
        <p:nvCxnSpPr>
          <p:cNvPr id="28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476500" y="2190750"/>
            <a:ext cx="1000125" cy="1095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977D3"/>
            </a:solidFill>
            <a:prstDash val="solid"/>
            <a:tailEnd type="triangle" w="sm" len="sm"/>
          </a:ln>
        </p:spPr>
      </p:cxn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76500" y="3286125"/>
            <a:ext cx="1000125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C73"/>
            </a:solidFill>
            <a:prstDash val="solid"/>
            <a:tailEnd type="triangle" w="sm" len="sm"/>
          </a:ln>
        </p:spPr>
      </p:cxnSp>
      <p:cxnSp>
        <p:nvCxnSpPr>
          <p:cNvPr id="30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76500" y="3286125"/>
            <a:ext cx="1000125" cy="2214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4B740"/>
            </a:solidFill>
            <a:prstDash val="solid"/>
            <a:tailEnd type="triangle" w="sm" len="sm"/>
          </a:ln>
        </p:spPr>
      </p:cxnSp>
      <p:cxnSp>
        <p:nvCxnSpPr>
          <p:cNvPr id="31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5810250" y="3852863"/>
            <a:ext cx="142875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C73"/>
            </a:solidFill>
            <a:prstDash val="solid"/>
            <a:tail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715500" y="3852863"/>
            <a:ext cx="5715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24D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957B19-03B5-4015-ADB8-D4E34EB54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3103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64545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D64545"/>
                </a:solidFill>
                <a:latin typeface="Noto Sans KR"/>
                <a:ea typeface="Noto Sans KR"/>
                <a:cs typeface="Noto Sans KR"/>
              </a:rPr>
              <a:t>합성 데이터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507F47-A94A-42FE-8ED3-0AA6B25CF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AI_Finance_Sec · 2026.08.16 · 문제정의/시스템설계</a:t>
            </a:r>
          </a:p>
        </p:txBody>
      </p:sp>
    </p:spTree>
    <p:extLst>
      <p:ext uri="{BB962C8B-B14F-4D97-AF65-F5344CB8AC3E}">
        <p14:creationId xmlns:p14="http://schemas.microsoft.com/office/powerpoint/2010/main" val="16703818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085AEA-CE1E-46A5-B661-8635D27F3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FBB36A-3D32-4432-81A7-7F034D26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03 · END-TO-END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95BFBC-F569-4171-A4B8-907CF87F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전체 플로우: 입력부터 안전 응답까지 하나의 State로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2233E-3C6F-4274-AA88-52BA1CDA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EFFC9D-54EC-4F03-A88A-EFB91AEA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285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사용자 입력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+ session_id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CD5C9-1569-4320-A5B9-67C648EA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1809750"/>
            <a:ext cx="1285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Next API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/api/chat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F1443-E11D-4557-8722-C1CE4948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809750"/>
            <a:ext cx="1285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FastAPI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validation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8D8D3-E66D-497A-BA7D-61C893C1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09750"/>
            <a:ext cx="1285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DEFE7"/>
          </a:solidFill>
          <a:ln xmlns:a="http://schemas.openxmlformats.org/drawingml/2006/main" w="9525">
            <a:solidFill>
              <a:srgbClr val="008C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9889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prepare_input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사건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36D77-B326-4005-BE6C-D48270117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1285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4B74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structured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risk 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E4A4D-C282-4F12-8217-F70E7AFD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809750"/>
            <a:ext cx="12858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9068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내부 처리</a:t>
            </a:r>
          </a:p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Qwen JSON + fusion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40076B-8EA6-481C-A948-370DE7527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381625"/>
            <a:ext cx="1095375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finalize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UI 응답</a:t>
            </a:r>
          </a:p>
        </p:txBody>
      </p:sp>
      <p:cxnSp>
        <p:nvCxnSpPr>
          <p:cNvPr id="4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685925" y="21526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tailEnd type="triangle" w="sm" len="sm"/>
          </a:ln>
        </p:spPr>
      </p:cxnSp>
      <p:cxnSp>
        <p:nvCxnSpPr>
          <p:cNvPr id="4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81350" y="21526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76775" y="21526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172200" y="21526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tailEnd type="triangle" w="sm" len="sm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67625" y="2152650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75467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98C24-BD8E-4705-B12B-B7341991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1809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3977D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knowledge_agent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Top3 /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DEE626-C5DE-4A5A-A3C0-0FD775BD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1809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DEFE7"/>
          </a:solidFill>
          <a:ln xmlns:a="http://schemas.openxmlformats.org/drawingml/2006/main" w="9525">
            <a:solidFill>
              <a:srgbClr val="008C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policy_agent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action allowlist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4F5449-92C5-4B73-B9C8-3FD4F6DC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619500"/>
            <a:ext cx="1809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4B74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ollama_generate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Qwen 자유문 검사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→ 자유문 폐기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2807B7-178B-4BA8-93EB-50F333CA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143500"/>
            <a:ext cx="180975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guarded_policy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+ safety_verifier</a:t>
            </a:r>
          </a:p>
        </p:txBody>
      </p:sp>
      <p:cxnSp>
        <p:nvCxnSpPr>
          <p:cNvPr id="49" name=""/>
          <p:cNvCxnSpPr>
            <a:stCxn xmlns:a="http://schemas.openxmlformats.org/drawingml/2006/main" id="10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7191375" y="2495550"/>
            <a:ext cx="1328738" cy="8382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3977D3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10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7191375" y="2495550"/>
            <a:ext cx="1328738" cy="2076450"/>
          </a:xfrm>
          <a:prstGeom xmlns:a="http://schemas.openxmlformats.org/drawingml/2006/main" prst="bentConnector4">
            <a:avLst>
              <a:gd name="adj1" fmla="val 0"/>
              <a:gd name="adj2" fmla="val 88991"/>
            </a:avLst>
          </a:prstGeom>
          <a:ln xmlns:a="http://schemas.openxmlformats.org/drawingml/2006/main" w="19050">
            <a:solidFill>
              <a:srgbClr val="008C73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096250" y="3762375"/>
            <a:ext cx="61912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75467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8096250" y="4191000"/>
            <a:ext cx="619125" cy="809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75467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9620250" y="47625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4545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2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525125" y="5600700"/>
            <a:ext cx="142875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24D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04D20A-F35E-421C-A7A8-F99BE6A2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57875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rPr>
              <a:t>LangGraph compiled workflow · knowledge와 policy만 병렬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6D066B-BDE6-4529-A8E2-61E5AB69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AI_Finance_Sec · 2026.08.16 · 문제정의/시스템설계</a:t>
            </a:r>
          </a:p>
        </p:txBody>
      </p:sp>
    </p:spTree>
    <p:extLst>
      <p:ext uri="{BB962C8B-B14F-4D97-AF65-F5344CB8AC3E}">
        <p14:creationId xmlns:p14="http://schemas.microsoft.com/office/powerpoint/2010/main" val="4735973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701951-FCD6-4B6E-AED5-CFD157EC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9D726-33F6-45AF-A9A6-1BF5F525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03 · LANGGRAPH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5157B4-FE3E-401B-A566-5E9C4B8EC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State·Node·Edge·Compile이 멀티턴 실행을 만든다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76802C-1C20-4F70-A9CC-DE5B23CB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CEB71-7D9C-4B7E-B13B-93E80BD3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3000375" cy="37147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wrap="square" lIns="228600" tIns="209550" rIns="15240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ChatState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messages / user_input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incident_summary / status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rule_risk / structured_risk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documents / policy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draft / final / safety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trace / turn_count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C23A47-EAA7-4A7D-82E9-7980EAA12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62125"/>
            <a:ext cx="3190875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C73"/>
            </a:solidFill>
            <a:prstDash val="solid"/>
          </a:ln>
        </p:spPr>
        <p:txBody>
          <a:bodyPr xmlns:a="http://schemas.openxmlformats.org/drawingml/2006/main" wrap="square" lIns="228600" tIns="209550" rIns="15240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Nodes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prepare_input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structured_risk_agent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knowledge_agent ∥ policy_agent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ollama_generate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safety_verifier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finalize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F4553-EEAA-4C03-BBAF-21986B71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333375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CDEFE7"/>
          </a:solidFill>
          <a:ln xmlns:a="http://schemas.openxmlformats.org/drawingml/2006/main" w="9525">
            <a:solidFill>
              <a:srgbClr val="008C73"/>
            </a:solidFill>
            <a:prstDash val="solid"/>
          </a:ln>
        </p:spPr>
        <p:txBody>
          <a:bodyPr xmlns:a="http://schemas.openxmlformats.org/drawingml/2006/main" wrap="square" lIns="228600" tIns="209550" rIns="152400" bIns="1333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Compile + Memory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workflow.compile(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  checkpointer=InMemorySaver()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thread_id = session_id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프로세스 종료 시 소멸</a:t>
            </a:r>
          </a:p>
        </p:txBody>
      </p:sp>
      <p:cxnSp>
        <p:nvCxnSpPr>
          <p:cNvPr id="20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619500" y="3190875"/>
            <a:ext cx="7143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C73"/>
            </a:solidFill>
            <a:prstDash val="solid"/>
            <a:tailEnd type="triangle" w="sm" len="sm"/>
          </a:ln>
        </p:spPr>
      </p:cxnSp>
      <p:cxnSp>
        <p:nvCxnSpPr>
          <p:cNvPr id="2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31908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C73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56335-08FF-4026-9038-65583864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953000"/>
            <a:ext cx="31908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4B74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정정·예문·새 주제 → incident closed/reset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D600CE-B61B-4494-B5B8-B509880F8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53000"/>
            <a:ext cx="3333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DB 영속화·사용자 계정 연결·암호화는 P2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BB247C-6569-44A7-89E3-B37392C13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AI_Finance_Sec · 2026.08.16 · 문제정의/시스템설계</a:t>
            </a:r>
          </a:p>
        </p:txBody>
      </p:sp>
    </p:spTree>
    <p:extLst>
      <p:ext uri="{BB962C8B-B14F-4D97-AF65-F5344CB8AC3E}">
        <p14:creationId xmlns:p14="http://schemas.microsoft.com/office/powerpoint/2010/main" val="201359643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B404C-341E-40E7-9428-4B4141B9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30EA18-6775-4A4A-AD85-F7EDC0375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03 · DECISION LOGIC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C0CAF-74A9-4B63-A0B7-A464021C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위험판정은 규칙과 Qwen 구조화 결과를 보수적으로 결합한다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671D4-0107-42E9-847D-90FE66E14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49AC10-6548-41E9-973C-F0D4825A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2476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3977D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결정론 규칙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known-pattern</a:t>
            </a:r>
          </a:p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완료 행동·정상 맥락</a:t>
            </a:r>
          </a:p>
          <a:p xmlns:a="http://schemas.openxmlformats.org/drawingml/2006/main">
            <a:pPr algn="ctr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점수·위험유형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D1F6A2-FED9-42BC-B97C-11B4C23F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81500"/>
            <a:ext cx="24765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4B740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Qwen 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state / risk_type</a:t>
            </a:r>
          </a:p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action / destination</a:t>
            </a:r>
          </a:p>
          <a:p xmlns:a="http://schemas.openxmlformats.org/drawingml/2006/main">
            <a:pPr algn="ctr">
              <a:def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confidence /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C7B06-184B-400A-A82C-5477EFCE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3333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CDEFE7"/>
          </a:solidFill>
          <a:ln xmlns:a="http://schemas.openxmlformats.org/drawingml/2006/main" w="9525">
            <a:solidFill>
              <a:srgbClr val="008C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Conservative Fusion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피해완료 → 위험 75+</a:t>
            </a:r>
          </a:p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fraud &amp; conf≥.75 → 위험 70+</a:t>
            </a:r>
          </a:p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저신뢰·불일치 → 최소 주의 40+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4BCD7-D459-4EC9-A9A7-E9C99632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0"/>
            <a:ext cx="2381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최종 Risk State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score · level · verdict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risk_type · evidence</a:t>
            </a:r>
          </a:p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already_transferred</a:t>
            </a:r>
          </a:p>
        </p:txBody>
      </p:sp>
      <p:cxnSp>
        <p:nvCxnSpPr>
          <p:cNvPr id="22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90875" y="3048000"/>
            <a:ext cx="1571625" cy="904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977D3"/>
            </a:solidFill>
            <a:prstDash val="solid"/>
            <a:tailEnd type="triangle" w="sm" len="sm"/>
          </a:ln>
        </p:spPr>
      </p:cxnSp>
      <p:cxnSp>
        <p:nvCxnSpPr>
          <p:cNvPr id="2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190875" y="3952875"/>
            <a:ext cx="1571625" cy="1285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F4B740"/>
            </a:solidFill>
            <a:prstDash val="solid"/>
            <a:tailEnd type="triangle" w="sm" len="sm"/>
          </a:ln>
        </p:spPr>
      </p:cxnSp>
      <p:cxnSp>
        <p:nvCxnSpPr>
          <p:cNvPr id="2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096250" y="39528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C73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63EF3-772C-478F-877E-77295819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62600"/>
            <a:ext cx="39052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7871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6454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64545"/>
                </a:solidFill>
                <a:latin typeface="Noto Sans KR"/>
                <a:ea typeface="Noto Sans KR"/>
                <a:cs typeface="Noto Sans KR"/>
              </a:rPr>
              <a:t>Qwen 실패/JSON 오류 → rule_fallback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31985-92BB-4FAA-8D29-233A7BA1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AI_Finance_Sec · 2026.08.16 · 문제정의/시스템설계</a:t>
            </a:r>
          </a:p>
        </p:txBody>
      </p:sp>
    </p:spTree>
    <p:extLst>
      <p:ext uri="{BB962C8B-B14F-4D97-AF65-F5344CB8AC3E}">
        <p14:creationId xmlns:p14="http://schemas.microsoft.com/office/powerpoint/2010/main" val="7836338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8CCC5-930D-45A7-A4FD-FF1B5486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4A58B-1B43-4846-8846-891FA9828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03 · RAG &amp;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58D02-73C9-4D1A-AECC-DC2AD3C0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근거 선택과 최종 행동문을 분리해 생성 위험을 제한한다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9E32F-3316-4891-89BA-A6E97E0A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B07A18-6AC7-4F49-B81B-A86CECB1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977D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977D3"/>
                </a:solidFill>
                <a:latin typeface="Noto Sans KR"/>
                <a:ea typeface="Noto Sans KR"/>
                <a:cs typeface="Noto Sans KR"/>
              </a:rPr>
              <a:t>근거 선택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4810F-6492-4E90-B070-78375AC7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8097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3977D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query + risk_type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D0ACA-D776-4678-B90E-E2BEAF55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2000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정적 요약 KB 11건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위험유형 필터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C0F4A-A851-4E85-80B8-21619F93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90750"/>
            <a:ext cx="20002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lexical/bigram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+ RRF 유사 결합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1EC0D-8AC6-4552-AC99-051934E2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20955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1FB"/>
          </a:solidFill>
          <a:ln xmlns:a="http://schemas.openxmlformats.org/drawingml/2006/main" w="9525">
            <a:solidFill>
              <a:srgbClr val="3977D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Top3</a:t>
            </a:r>
          </a:p>
          <a:p xmlns:a="http://schemas.openxmlformats.org/drawingml/2006/main">
            <a:pPr algn="ctr">
              <a:def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또는 policy_fallback</a:t>
            </a:r>
          </a:p>
        </p:txBody>
      </p: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76500" y="25241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7D3"/>
            </a:solidFill>
            <a:prstDash val="solid"/>
            <a:tail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48250" y="25241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7D3"/>
            </a:solidFill>
            <a:prstDash val="solid"/>
            <a:tail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20000" y="25241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977D3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445E6-7977-4F3F-BEE5-F27F4AF12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rPr>
              <a:t>최종 응답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E640E-786F-45C8-8A15-EA98ABBB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52875"/>
            <a:ext cx="2095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CDEFE7"/>
          </a:solidFill>
          <a:ln xmlns:a="http://schemas.openxmlformats.org/drawingml/2006/main" w="9525">
            <a:solidFill>
              <a:srgbClr val="008C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서버 policy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action allowlist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132DE-00C4-473D-BC05-4ADCB9F5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52875"/>
            <a:ext cx="2476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8C73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guarded_policy_answer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허용 문구만 구성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F7F1E9-758F-4F95-BBCB-90F7A552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52875"/>
            <a:ext cx="24765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Safety checks</a:t>
            </a:r>
          </a:p>
          <a:p xmlns:a="http://schemas.openxmlformats.org/drawingml/2006/main">
            <a:pPr algn="ctr">
              <a:def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위험행동·허위완료 금지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5F8CEA-15EC-4BD1-B81B-B0BAC3A8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52875"/>
            <a:ext cx="14287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사용자 안내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중단·확인·신고</a:t>
            </a:r>
          </a:p>
        </p:txBody>
      </p: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2762250" y="43719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8C73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096000" y="437197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64545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429750" y="43719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324D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5885E7-BE8E-4CF6-A0F0-F6BF3CCE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257800"/>
            <a:ext cx="257175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  <p:txBody>
          <a:bodyPr xmlns:a="http://schemas.openxmlformats.org/drawingml/2006/main" wrap="square" lIns="114300" tIns="76200" rIns="114300" bIns="76200" anchor="ctr">
            <a:normAutofit fontScale="78713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64545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D64545"/>
                </a:solidFill>
                <a:latin typeface="Noto Sans KR"/>
                <a:ea typeface="Noto Sans KR"/>
                <a:cs typeface="Noto Sans KR"/>
              </a:rPr>
              <a:t>외부 조치 실행 = FALSE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476EEF-C886-4F67-9587-42790A59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10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피해 발생 시: 1394 신고·상담 + 긴급 시 112 + 해당 금융회사 연락·지급정지 요청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3785C9-B32F-4CAD-B57D-DF9FF08AD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AI_Finance_Sec · 2026.08.16 · 문제정의/시스템설계</a:t>
            </a:r>
          </a:p>
        </p:txBody>
      </p:sp>
    </p:spTree>
    <p:extLst>
      <p:ext uri="{BB962C8B-B14F-4D97-AF65-F5344CB8AC3E}">
        <p14:creationId xmlns:p14="http://schemas.microsoft.com/office/powerpoint/2010/main" val="1557029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72BED7-10F0-4F25-9E41-CA3F8A0E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648749-0198-40A5-AE7F-21BCD7E9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04 · ROAD TO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E9F96-6BE4-43CC-A2E4-D41F7186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현재는 ‘안전한 합성 MVP’, 다음은 ‘기관 승인형 POC’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3D2E36-4DD7-485C-8A81-7E7650E8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525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5DD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DB16F-C40C-4176-8981-93C1843A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008C73"/>
                </a:solidFill>
                <a:latin typeface="Noto Sans KR"/>
                <a:ea typeface="Noto Sans KR"/>
                <a:cs typeface="Noto Sans KR"/>
              </a:rPr>
              <a:t>CURRENT MVP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1B167-A9B3-4FAE-8ABB-356652FD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CDEFE7"/>
          </a:solidFill>
          <a:ln xmlns:a="http://schemas.openxmlformats.org/drawingml/2006/main" w="9525">
            <a:solidFill>
              <a:srgbClr val="008C73"/>
            </a:solidFill>
            <a:prstDash val="solid"/>
          </a:ln>
        </p:spPr>
        <p:txBody>
          <a:bodyPr xmlns:a="http://schemas.openxmlformats.org/drawingml/2006/main" wrap="square" lIns="266700" tIns="228600" rIns="19050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구현됨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• 합성 통화 문장·합성 거래 신호 UI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• Mock + Local FastAPI/LangGraph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• 규칙 + Qwen 구조화 JSON fusion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• 정적 KB 11건 + 경량 재순위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• allowlist 응답 + Safety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• session 기반 휘발성 멀티턴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• 합성 회귀·holdout 테스트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739D0-6C67-46FE-AE4C-B4C82394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714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6454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D64545"/>
                </a:solidFill>
                <a:latin typeface="Noto Sans KR"/>
                <a:ea typeface="Noto Sans KR"/>
                <a:cs typeface="Noto Sans KR"/>
              </a:rPr>
              <a:t>POC / P2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F61F5-B4CB-43A8-8476-BD151ABD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43125"/>
            <a:ext cx="4762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4545"/>
            </a:solidFill>
            <a:prstDash val="solid"/>
          </a:ln>
        </p:spPr>
        <p:txBody>
          <a:bodyPr xmlns:a="http://schemas.openxmlformats.org/drawingml/2006/main" wrap="square" lIns="266700" tIns="228600" rIns="190500" bIns="1524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미구현·기관 합의 필요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• 동의 기반 통화 위험 특징값 / STT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• 실제 거래·FDS·은행 레거시 연계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• 승인 지식·버전·검수 워크플로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• Vector DB·embedding·reranker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• RAGAS·실데이터 calibration·drift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• 영속 DB·인증·권한·감사로그</a:t>
            </a:r>
          </a:p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01828"/>
                </a:solidFill>
                <a:latin typeface="Noto Sans KR"/>
                <a:ea typeface="Noto Sans KR"/>
                <a:cs typeface="Noto Sans KR"/>
              </a:rPr>
              <a:t>• Human review·이의제기 운영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511855-8948-473B-A7A0-29A0317A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952500" cy="762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24E8C-C2C7-4D52-BA10-030B5384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7324D"/>
                </a:solidFill>
                <a:latin typeface="Noto Sans KR"/>
                <a:ea typeface="Noto Sans KR"/>
                <a:cs typeface="Noto Sans KR"/>
              </a:rPr>
              <a:t>POC의 성공 기준은 실사용 정확도 주장보다 ‘행동 개선·안전 위반 0·운영 가능성’을 검증하는 것이다.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A6CDF-31C0-4422-9B4E-299E0B105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151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defRPr>
            </a:pPr>
            <a:r>
              <a:rPr sz="750" b="0">
                <a:solidFill>
                  <a:srgbClr val="667085"/>
                </a:solidFill>
                <a:latin typeface="Noto Sans KR"/>
                <a:ea typeface="Noto Sans KR"/>
                <a:cs typeface="Noto Sans KR"/>
              </a:rPr>
              <a:t>AI_Finance_Sec · 2026.08.16 · 문제정의/시스템설계</a:t>
            </a:r>
          </a:p>
        </p:txBody>
      </p:sp>
    </p:spTree>
    <p:extLst>
      <p:ext uri="{BB962C8B-B14F-4D97-AF65-F5344CB8AC3E}">
        <p14:creationId xmlns:p14="http://schemas.microsoft.com/office/powerpoint/2010/main" val="5487769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2026-08-16T01:27:07.8070000Z</dcterms:created>
  <dcterms:modified xsi:type="dcterms:W3CDTF">2026-08-16T01:27:07.8070000Z</dcterms:modified>
</coreProperties>
</file>